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79" r:id="rId2"/>
    <p:sldId id="272" r:id="rId3"/>
    <p:sldId id="273" r:id="rId4"/>
    <p:sldId id="275" r:id="rId5"/>
    <p:sldId id="276" r:id="rId6"/>
    <p:sldId id="277" r:id="rId7"/>
    <p:sldId id="278" r:id="rId8"/>
    <p:sldId id="261" r:id="rId9"/>
    <p:sldId id="260" r:id="rId10"/>
    <p:sldId id="257" r:id="rId11"/>
    <p:sldId id="258" r:id="rId12"/>
    <p:sldId id="259" r:id="rId13"/>
    <p:sldId id="262" r:id="rId14"/>
    <p:sldId id="271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8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40"/>
  </p:normalViewPr>
  <p:slideViewPr>
    <p:cSldViewPr snapToGrid="0">
      <p:cViewPr varScale="1">
        <p:scale>
          <a:sx n="102" d="100"/>
          <a:sy n="102" d="100"/>
        </p:scale>
        <p:origin x="96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0030E-DB0A-B648-8AF6-2D5BFECB116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92881-2894-C74B-8BF1-0BDD03CF1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36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6FF50-F66F-124A-ABEF-753A011BD2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78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1D824-52BF-7C25-FC6B-CF2E905E4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D2546-2E02-19E9-CFB4-DE095FE294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17EE2-5606-6F12-7307-C9FDC9339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C837-F96B-2040-B564-D962161925D4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91DF2-F44D-4CDD-3130-99E226405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0CC26-14D8-A7DB-E62E-5733E4410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C3AD-2922-304B-B590-2F24A45A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28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22D29-681E-EB2B-8039-566D2066B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D9327-26BE-E44F-395A-1857EC341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C0771-22FF-E046-F3BE-41A8B503F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C837-F96B-2040-B564-D962161925D4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01E70-BE57-3344-E3CA-A642982B1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B7874-EC17-5A9C-4EAF-79B8D2C05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C3AD-2922-304B-B590-2F24A45A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41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92EF9-A9FF-6795-2D60-456C3E552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4AC78-D847-B041-BB8C-1C232F5EE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06AB5-9440-B394-FD77-962505F7C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C837-F96B-2040-B564-D962161925D4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99F59-0545-DCE4-89C6-7604EEA40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5BA69-6BBB-832A-0A79-F4C44812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C3AD-2922-304B-B590-2F24A45A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77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49B20-4EBA-238F-97AE-83966D564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E635D-4357-F7FE-2633-460F831B3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08D6A-F028-5BF7-A748-C1D6BD4DC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22E81-E436-E3F7-A688-89E10AB3B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C837-F96B-2040-B564-D962161925D4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C67A3-A8C8-21A2-CBA9-77966AD9D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99A67-2846-1B68-E9B0-D1DDF627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C3AD-2922-304B-B590-2F24A45A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95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92EF-F160-DA00-6144-FE60609E8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B6595-543F-68CD-B869-219A9F2D2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4BDD8-46F0-A621-BB70-DA1BA2EC5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DA854E-52A2-E6EF-7CE0-5973EEC556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687494-5A29-C168-4259-3D9A229776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49B5DB-5224-5D13-E8AF-2A1CD1E00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C837-F96B-2040-B564-D962161925D4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96199A-63E8-24F9-1987-FB3F0A2F3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A38608-6F23-E1A5-BB89-B7B29B8C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C3AD-2922-304B-B590-2F24A45A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30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FF47B-6106-5C74-3895-915217C9C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4D5E1E-6684-1F9C-23EE-3B85DA1F8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C837-F96B-2040-B564-D962161925D4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B90010-2471-6342-0D01-83E6C12A1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F879F-119B-B187-CFB0-6628BD2A6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C3AD-2922-304B-B590-2F24A45A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8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F27507-FC9C-A11B-9FEC-23AC014F5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C837-F96B-2040-B564-D962161925D4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2814C2-B954-31E8-DEC1-87080168B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D3A16-444C-C676-8843-AB9BFA90B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C3AD-2922-304B-B590-2F24A45A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374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0BA68-3253-7EC3-6239-D7473B111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93410-8E0F-9BFF-888B-992A543B0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E49E5-BC53-1D7E-9C5C-785C25914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7ADD2-1A19-F704-4403-C72E3F6E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C837-F96B-2040-B564-D962161925D4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55485-49C5-848F-E4B4-31AFEC52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67BE9-7767-55AA-FB33-8B6191B36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C3AD-2922-304B-B590-2F24A45A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507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A44EF-EBEA-3337-CE37-F4DBB8113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563963-5854-17C3-5EA0-0191D955FF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F1B30-9123-18C5-8605-CCD4706A3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F30E8-B67C-5C07-2387-DA1E2D11B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C837-F96B-2040-B564-D962161925D4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BD317-6210-145B-C5B2-70E611C71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A26D0-0C44-42A6-F863-E27BFED77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C3AD-2922-304B-B590-2F24A45A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7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552A4-BEAD-BF46-6E32-2DE22ABD7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E556EC-FB60-EDF4-4649-AF3779B16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60D62-4288-6540-EB18-7C435CBD5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C837-F96B-2040-B564-D962161925D4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87330-7546-1BBE-AC5C-20046A91F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2F5DA-FC44-FE6F-1B27-20EC3E1F2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C3AD-2922-304B-B590-2F24A45A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44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700E88-B051-DC7D-88BB-97A44BFA37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FA19D-C4A3-0A3C-A50A-973F17B7B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C470D-0467-C1B7-B00C-2AFC239F2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C837-F96B-2040-B564-D962161925D4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A0B48-0E53-22A6-76F0-26ECE4C62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59AC-A543-B580-EB9E-7FC8DC879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C3AD-2922-304B-B590-2F24A45A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633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mpty background alt footer" userDrawn="1">
  <p:cSld name="1_empty background alt footer">
    <p:bg>
      <p:bgPr>
        <a:solidFill>
          <a:schemeClr val="dk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5607" y="-643262"/>
            <a:ext cx="12223214" cy="8144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accent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8200" y="34440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27688-F886-429D-A4EF-D615E67DCB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2060294"/>
            <a:ext cx="10515600" cy="402776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1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6C6F25-FA80-FD8F-8100-742C30D9B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E515A-89DC-B5B1-DF1A-7B16476AE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B5E9D-2703-7DED-3D9B-BA60697F6B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73C837-F96B-2040-B564-D962161925D4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EFFC4-4B4C-2943-2168-041AACB78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7E717-2460-B582-8A7A-0CBFDB88E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2EC3AD-2922-304B-B590-2F24A45A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8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datasets" TargetMode="External"/><Relationship Id="rId5" Type="http://schemas.openxmlformats.org/officeDocument/2006/relationships/hyperlink" Target="https://techcrunch.com/2020/01/23/googles-dataset-search-comes-out-of-beta" TargetMode="Externa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am04.safelinks.protection.outlook.com/?url=https%3A%2F%2Fen.wikipedia.org%2Fwiki%2FList_of_datasets_for_machine-learning_research&amp;data=05%7C02%7Csehrishbasir%40vt.edu%7C1d3b90ed24c6459f227008dc1deaf2e2%7C6095688410ad40fa863d4f32c1e3a37a%7C0%7C0%7C638418142129808196%7CUnknown%7CTWFpbGZsb3d8eyJWIjoiMC4wLjAwMDAiLCJQIjoiV2luMzIiLCJBTiI6Ik1haWwiLCJXVCI6Mn0%3D%7C0%7C%7C%7C&amp;sdata=3V622bAvsaC6j0DnOL96DbFqy%2F4kGvgQzZrYE0JUFGg%3D&amp;reserved=0" TargetMode="External"/><Relationship Id="rId5" Type="http://schemas.openxmlformats.org/officeDocument/2006/relationships/image" Target="../media/image15.png"/><Relationship Id="rId4" Type="http://schemas.openxmlformats.org/officeDocument/2006/relationships/hyperlink" Target="https://nam04.safelinks.protection.outlook.com/?url=https%3A%2F%2Farchive.ics.uci.edu%2F&amp;data=05%7C02%7Csehrishbasir%40vt.edu%7C1d3b90ed24c6459f227008dc1deaf2e2%7C6095688410ad40fa863d4f32c1e3a37a%7C0%7C0%7C638418142129815982%7CUnknown%7CTWFpbGZsb3d8eyJWIjoiMC4wLjAwMDAiLCJQIjoiV2luMzIiLCJBTiI6Ik1haWwiLCJXVCI6Mn0%3D%7C0%7C%7C%7C&amp;sdata=WFqK4KTO7kMOA%2BCKT4qZNucbdhuorZWXPj2uZsnWKwM%3D&amp;reserved=0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"/>
          <p:cNvSpPr txBox="1">
            <a:spLocks noGrp="1"/>
          </p:cNvSpPr>
          <p:nvPr>
            <p:ph type="title"/>
          </p:nvPr>
        </p:nvSpPr>
        <p:spPr>
          <a:xfrm>
            <a:off x="488950" y="2890871"/>
            <a:ext cx="1121409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4400" b="1" dirty="0">
                <a:solidFill>
                  <a:srgbClr val="E26B07"/>
                </a:solidFill>
                <a:effectLst/>
                <a:latin typeface="Arial" panose="020B0604020202020204" pitchFamily="34" charset="0"/>
              </a:rPr>
              <a:t>CS/CDMA/STAT 3654 </a:t>
            </a:r>
            <a:br>
              <a:rPr lang="en-US" sz="3200" b="1" dirty="0">
                <a:solidFill>
                  <a:srgbClr val="E26B07"/>
                </a:solidFill>
                <a:effectLst/>
                <a:latin typeface="Arial" panose="020B0604020202020204" pitchFamily="34" charset="0"/>
              </a:rPr>
            </a:br>
            <a:r>
              <a:rPr lang="en-US" sz="3200" b="1" dirty="0">
                <a:solidFill>
                  <a:srgbClr val="E26B07"/>
                </a:solidFill>
              </a:rPr>
              <a:t>Projects</a:t>
            </a:r>
            <a:br>
              <a:rPr lang="en-US" sz="3200" dirty="0">
                <a:effectLst/>
              </a:rPr>
            </a:br>
            <a:br>
              <a:rPr lang="en-US" sz="3200" dirty="0">
                <a:effectLst/>
              </a:rPr>
            </a:br>
            <a:r>
              <a:rPr lang="en-US" sz="3200" dirty="0">
                <a:solidFill>
                  <a:schemeClr val="bg1"/>
                </a:solidFill>
                <a:effectLst/>
                <a:latin typeface="ArialMT"/>
              </a:rPr>
              <a:t>Spring 2024</a:t>
            </a:r>
            <a:endParaRPr lang="en-US" sz="3200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Author">
            <a:extLst>
              <a:ext uri="{FF2B5EF4-FFF2-40B4-BE49-F238E27FC236}">
                <a16:creationId xmlns:a16="http://schemas.microsoft.com/office/drawing/2014/main" id="{EF307A02-42FC-48EE-B45C-BC911F3896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3200" y="5603686"/>
            <a:ext cx="8883997" cy="658735"/>
          </a:xfrm>
        </p:spPr>
        <p:txBody>
          <a:bodyPr>
            <a:normAutofit/>
          </a:bodyPr>
          <a:lstStyle/>
          <a:p>
            <a:pPr marL="50800" indent="0" algn="r">
              <a:buNone/>
            </a:pPr>
            <a:r>
              <a:rPr lang="en-US" sz="2000" dirty="0">
                <a:effectLst/>
                <a:latin typeface="ArialMT"/>
              </a:rPr>
              <a:t>Instructor: Sehrish Basir Nizamani</a:t>
            </a:r>
            <a:endParaRPr lang="en-US" sz="20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Virginia Tech Logo" descr="Virginia Tech">
            <a:extLst>
              <a:ext uri="{FF2B5EF4-FFF2-40B4-BE49-F238E27FC236}">
                <a16:creationId xmlns:a16="http://schemas.microsoft.com/office/drawing/2014/main" id="{3A0488EB-471D-80EC-7827-630F55D33F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33669" y="1281530"/>
            <a:ext cx="2351529" cy="444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D71CA-0FF7-37E5-8842-789330B69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u="none" strike="noStrike" dirty="0">
                <a:solidFill>
                  <a:srgbClr val="374151"/>
                </a:solidFill>
                <a:effectLst/>
                <a:latin typeface="Söhne"/>
              </a:rPr>
              <a:t>Have a balanced team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CEDF1-10F2-8B0A-CA5B-787A39134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endParaRPr lang="en-US" sz="3200" b="0" i="0" u="none" strike="noStrike" dirty="0">
              <a:solidFill>
                <a:srgbClr val="56595B"/>
              </a:solidFill>
              <a:latin typeface="ArialMT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sz="3200" b="0" i="0" u="none" strike="noStrike" dirty="0">
                <a:solidFill>
                  <a:srgbClr val="374151"/>
                </a:solidFill>
                <a:effectLst/>
                <a:latin typeface="Söhne"/>
              </a:rPr>
              <a:t>Teamwork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3200" b="0" i="0" u="none" strike="noStrike" dirty="0">
                <a:solidFill>
                  <a:srgbClr val="374151"/>
                </a:solidFill>
                <a:effectLst/>
                <a:latin typeface="Söhne"/>
              </a:rPr>
              <a:t>Zoom meet/In-person meet </a:t>
            </a:r>
          </a:p>
        </p:txBody>
      </p:sp>
      <p:pic>
        <p:nvPicPr>
          <p:cNvPr id="4" name="Picture 2" descr="Virginia Tech Hokies - Wikipedia">
            <a:extLst>
              <a:ext uri="{FF2B5EF4-FFF2-40B4-BE49-F238E27FC236}">
                <a16:creationId xmlns:a16="http://schemas.microsoft.com/office/drawing/2014/main" id="{F8F5C7F7-E588-FBE3-CC12-207D35F04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35" y="285272"/>
            <a:ext cx="1099929" cy="5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06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Content Placeholder 18" descr="A group of cartoon characters&#10;&#10;Description automatically generated">
            <a:extLst>
              <a:ext uri="{FF2B5EF4-FFF2-40B4-BE49-F238E27FC236}">
                <a16:creationId xmlns:a16="http://schemas.microsoft.com/office/drawing/2014/main" id="{E0EAA8D2-D45C-F6AB-012F-751C8B295D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1393" y="643466"/>
            <a:ext cx="10129213" cy="5571067"/>
          </a:xfrm>
          <a:prstGeom prst="rect">
            <a:avLst/>
          </a:prstGeom>
        </p:spPr>
      </p:pic>
      <p:pic>
        <p:nvPicPr>
          <p:cNvPr id="20" name="Picture 2" descr="Virginia Tech Hokies - Wikipedia">
            <a:extLst>
              <a:ext uri="{FF2B5EF4-FFF2-40B4-BE49-F238E27FC236}">
                <a16:creationId xmlns:a16="http://schemas.microsoft.com/office/drawing/2014/main" id="{C416E211-9E74-618A-3F53-D20604E04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35" y="230188"/>
            <a:ext cx="1099929" cy="5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6744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game&#10;&#10;Description automatically generated">
            <a:extLst>
              <a:ext uri="{FF2B5EF4-FFF2-40B4-BE49-F238E27FC236}">
                <a16:creationId xmlns:a16="http://schemas.microsoft.com/office/drawing/2014/main" id="{0152E0A5-71DA-7849-CBCB-E6884DBE7B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3132" r="-1" b="-1"/>
          <a:stretch/>
        </p:blipFill>
        <p:spPr>
          <a:xfrm>
            <a:off x="567526" y="559901"/>
            <a:ext cx="11056947" cy="5730212"/>
          </a:xfrm>
          <a:prstGeom prst="rect">
            <a:avLst/>
          </a:prstGeom>
        </p:spPr>
      </p:pic>
      <p:pic>
        <p:nvPicPr>
          <p:cNvPr id="6" name="Picture 2" descr="Virginia Tech Hokies - Wikipedia">
            <a:extLst>
              <a:ext uri="{FF2B5EF4-FFF2-40B4-BE49-F238E27FC236}">
                <a16:creationId xmlns:a16="http://schemas.microsoft.com/office/drawing/2014/main" id="{682C9078-DBAC-8D45-F84B-858749594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35" y="230188"/>
            <a:ext cx="1099929" cy="5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2434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AE9C7-C929-7B96-FBF5-D29F9E4DC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F4D93EAC-2DAA-209E-231D-54183F89AC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364" y="365125"/>
            <a:ext cx="11611445" cy="5757379"/>
          </a:xfrm>
        </p:spPr>
      </p:pic>
      <p:pic>
        <p:nvPicPr>
          <p:cNvPr id="6" name="Picture 2" descr="Virginia Tech Hokies - Wikipedia">
            <a:extLst>
              <a:ext uri="{FF2B5EF4-FFF2-40B4-BE49-F238E27FC236}">
                <a16:creationId xmlns:a16="http://schemas.microsoft.com/office/drawing/2014/main" id="{B58F071C-FB24-A013-A4BF-6210A60E9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35" y="230188"/>
            <a:ext cx="1099929" cy="5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934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cartoon characters&#10;&#10;Description automatically generated">
            <a:extLst>
              <a:ext uri="{FF2B5EF4-FFF2-40B4-BE49-F238E27FC236}">
                <a16:creationId xmlns:a16="http://schemas.microsoft.com/office/drawing/2014/main" id="{B71AC727-1EC7-325E-21CA-42EA3975F9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337" r="-1" b="-1"/>
          <a:stretch/>
        </p:blipFill>
        <p:spPr>
          <a:xfrm>
            <a:off x="567526" y="559901"/>
            <a:ext cx="11056947" cy="5730212"/>
          </a:xfrm>
          <a:prstGeom prst="rect">
            <a:avLst/>
          </a:prstGeom>
        </p:spPr>
      </p:pic>
      <p:pic>
        <p:nvPicPr>
          <p:cNvPr id="6" name="Picture 2" descr="Virginia Tech Hokies - Wikipedia">
            <a:extLst>
              <a:ext uri="{FF2B5EF4-FFF2-40B4-BE49-F238E27FC236}">
                <a16:creationId xmlns:a16="http://schemas.microsoft.com/office/drawing/2014/main" id="{1E4BB170-2BE8-3EEA-A6F3-DC9B5E1D3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35" y="230188"/>
            <a:ext cx="1099929" cy="5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52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game&#10;&#10;Description automatically generated">
            <a:extLst>
              <a:ext uri="{FF2B5EF4-FFF2-40B4-BE49-F238E27FC236}">
                <a16:creationId xmlns:a16="http://schemas.microsoft.com/office/drawing/2014/main" id="{5A113422-1C34-4187-49BA-C2EC418892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648207"/>
            <a:ext cx="10905066" cy="5561584"/>
          </a:xfrm>
          <a:prstGeom prst="rect">
            <a:avLst/>
          </a:prstGeom>
        </p:spPr>
      </p:pic>
      <p:pic>
        <p:nvPicPr>
          <p:cNvPr id="6" name="Picture 2" descr="Virginia Tech Hokies - Wikipedia">
            <a:extLst>
              <a:ext uri="{FF2B5EF4-FFF2-40B4-BE49-F238E27FC236}">
                <a16:creationId xmlns:a16="http://schemas.microsoft.com/office/drawing/2014/main" id="{4FCE4262-304E-AE0E-EC96-1989D84D5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35" y="230188"/>
            <a:ext cx="1099929" cy="5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0227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A7A13-FD76-F013-E0E2-C91B37CB8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is most challenging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7BD69-1C1D-D149-9D9B-36E438C8C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Covering a topic for</a:t>
            </a:r>
          </a:p>
          <a:p>
            <a:pPr lvl="1"/>
            <a:r>
              <a:rPr lang="en-US" dirty="0"/>
              <a:t>Quiz / Exam /Grades</a:t>
            </a:r>
          </a:p>
          <a:p>
            <a:pPr lvl="1"/>
            <a:r>
              <a:rPr lang="en-US" dirty="0"/>
              <a:t>Teaching to someone else</a:t>
            </a:r>
          </a:p>
          <a:p>
            <a:pPr lvl="1"/>
            <a:r>
              <a:rPr lang="en-US" dirty="0"/>
              <a:t>Applying in the real world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2" descr="Virginia Tech Hokies - Wikipedia">
            <a:extLst>
              <a:ext uri="{FF2B5EF4-FFF2-40B4-BE49-F238E27FC236}">
                <a16:creationId xmlns:a16="http://schemas.microsoft.com/office/drawing/2014/main" id="{14BB1876-9B3B-0C6B-F08A-DAD43ECC7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35" y="285272"/>
            <a:ext cx="1099929" cy="5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527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Complex maths formulae on a blackboard">
            <a:extLst>
              <a:ext uri="{FF2B5EF4-FFF2-40B4-BE49-F238E27FC236}">
                <a16:creationId xmlns:a16="http://schemas.microsoft.com/office/drawing/2014/main" id="{D8B6A7A6-0279-0ED3-99A4-A5E2646D59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27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289375-992E-D691-481F-B5599A6BE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What is the difference between studying and learning?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2" descr="Virginia Tech Hokies - Wikipedia">
            <a:extLst>
              <a:ext uri="{FF2B5EF4-FFF2-40B4-BE49-F238E27FC236}">
                <a16:creationId xmlns:a16="http://schemas.microsoft.com/office/drawing/2014/main" id="{3D8E9B2A-ABFB-3D02-60DA-3CFB92D98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35" y="285272"/>
            <a:ext cx="1099929" cy="5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5358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6A8D1-E286-F1B1-577D-3B2A86CDD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05A41-0561-0A86-3D56-198F61351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Bloom's Taxonomy | Center for Teaching | Vanderbilt University">
            <a:extLst>
              <a:ext uri="{FF2B5EF4-FFF2-40B4-BE49-F238E27FC236}">
                <a16:creationId xmlns:a16="http://schemas.microsoft.com/office/drawing/2014/main" id="{97F2FF06-2523-E4A9-648B-49D080ECA4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74"/>
          <a:stretch/>
        </p:blipFill>
        <p:spPr bwMode="auto">
          <a:xfrm>
            <a:off x="6246" y="63642"/>
            <a:ext cx="12066484" cy="642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Virginia Tech Hokies - Wikipedia">
            <a:extLst>
              <a:ext uri="{FF2B5EF4-FFF2-40B4-BE49-F238E27FC236}">
                <a16:creationId xmlns:a16="http://schemas.microsoft.com/office/drawing/2014/main" id="{6E683FF5-640D-4B17-5990-CCED9B13F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35" y="365124"/>
            <a:ext cx="1099929" cy="5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595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C6F69-EFA6-54E9-8BB4-15B2E1593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</p:txBody>
      </p:sp>
      <p:pic>
        <p:nvPicPr>
          <p:cNvPr id="5" name="Content Placeholder 4" descr="A close up of a logo&#10;&#10;Description automatically generated">
            <a:extLst>
              <a:ext uri="{FF2B5EF4-FFF2-40B4-BE49-F238E27FC236}">
                <a16:creationId xmlns:a16="http://schemas.microsoft.com/office/drawing/2014/main" id="{2EC330FA-AD08-2B06-24D7-5943727967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8743" y="1942479"/>
            <a:ext cx="5437257" cy="842857"/>
          </a:xfrm>
        </p:spPr>
      </p:pic>
      <p:pic>
        <p:nvPicPr>
          <p:cNvPr id="7" name="Picture 6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0D8F1411-4DD4-62C6-4A4B-40B681B14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418" y="3506234"/>
            <a:ext cx="2160426" cy="997672"/>
          </a:xfrm>
          <a:prstGeom prst="rect">
            <a:avLst/>
          </a:prstGeom>
        </p:spPr>
      </p:pic>
      <p:pic>
        <p:nvPicPr>
          <p:cNvPr id="9" name="Picture 8" descr="A logo of a github&#10;&#10;Description automatically generated">
            <a:extLst>
              <a:ext uri="{FF2B5EF4-FFF2-40B4-BE49-F238E27FC236}">
                <a16:creationId xmlns:a16="http://schemas.microsoft.com/office/drawing/2014/main" id="{2CE0D249-C11E-1AA5-FEF0-A6AB2953D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5857" y="1920158"/>
            <a:ext cx="4597400" cy="1651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BB5455D-E5FC-F9B9-DACD-83D409E56244}"/>
              </a:ext>
            </a:extLst>
          </p:cNvPr>
          <p:cNvSpPr txBox="1"/>
          <p:nvPr/>
        </p:nvSpPr>
        <p:spPr>
          <a:xfrm>
            <a:off x="1491418" y="2772869"/>
            <a:ext cx="3771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Aleo" panose="020F0502020204030204" pitchFamily="34" charset="0"/>
              </a:rPr>
              <a:t>with </a:t>
            </a:r>
            <a:r>
              <a:rPr lang="en-US" b="0" i="0" u="none" strike="noStrike" dirty="0">
                <a:solidFill>
                  <a:srgbClr val="2872E1"/>
                </a:solidFill>
                <a:effectLst/>
                <a:latin typeface="Aleo" panose="020F0502020204030204" pitchFamily="34" charset="0"/>
                <a:hlinkClick r:id="rId5"/>
              </a:rPr>
              <a:t>25 million datasets available</a:t>
            </a:r>
            <a:r>
              <a:rPr lang="en-US" b="0" i="0" u="none" strike="noStrike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Aleo" panose="020F0502020204030204" pitchFamily="34" charset="0"/>
              </a:rPr>
              <a:t> 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806AFA-D953-9F98-C2B0-9FCCC43A4B88}"/>
              </a:ext>
            </a:extLst>
          </p:cNvPr>
          <p:cNvSpPr txBox="1"/>
          <p:nvPr/>
        </p:nvSpPr>
        <p:spPr>
          <a:xfrm>
            <a:off x="424881" y="4390048"/>
            <a:ext cx="61749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Aleo" pitchFamily="2" charset="77"/>
              </a:rPr>
              <a:t>popular data-science competition website that provides free public datasets you can use to learn artificial intelligence (AI) and machine learning (ML).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713C02-4C17-FC14-BD46-24FA94915D27}"/>
              </a:ext>
            </a:extLst>
          </p:cNvPr>
          <p:cNvSpPr txBox="1"/>
          <p:nvPr/>
        </p:nvSpPr>
        <p:spPr>
          <a:xfrm>
            <a:off x="408837" y="5469320"/>
            <a:ext cx="6174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Aleo" pitchFamily="2" charset="77"/>
              </a:rPr>
              <a:t>Kaggle has a collection of over </a:t>
            </a:r>
            <a:r>
              <a:rPr lang="en-US" b="0" i="0" u="none" strike="noStrike" dirty="0">
                <a:solidFill>
                  <a:srgbClr val="2872E1"/>
                </a:solidFill>
                <a:effectLst/>
                <a:latin typeface="Aleo" pitchFamily="2" charset="77"/>
                <a:hlinkClick r:id="rId6"/>
              </a:rPr>
              <a:t>68,000 datasets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0EFD64-8562-3A3D-05F1-B76B117AC021}"/>
              </a:ext>
            </a:extLst>
          </p:cNvPr>
          <p:cNvSpPr txBox="1"/>
          <p:nvPr/>
        </p:nvSpPr>
        <p:spPr>
          <a:xfrm>
            <a:off x="6935857" y="3571158"/>
            <a:ext cx="429033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https://corgis-</a:t>
            </a:r>
            <a:r>
              <a:rPr lang="en-US" dirty="0" err="1"/>
              <a:t>edu.github.io</a:t>
            </a:r>
            <a:r>
              <a:rPr lang="en-US" dirty="0"/>
              <a:t>/corgis/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awesomedata</a:t>
            </a:r>
            <a:r>
              <a:rPr lang="en-US" dirty="0"/>
              <a:t>/awesome-public-datasets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3898F8-0794-C04E-2820-8C9CEB77A687}"/>
              </a:ext>
            </a:extLst>
          </p:cNvPr>
          <p:cNvSpPr txBox="1"/>
          <p:nvPr/>
        </p:nvSpPr>
        <p:spPr>
          <a:xfrm>
            <a:off x="408837" y="5952219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www.kaggle.com</a:t>
            </a:r>
            <a:r>
              <a:rPr lang="en-US" dirty="0"/>
              <a:t>/datasets</a:t>
            </a:r>
          </a:p>
        </p:txBody>
      </p:sp>
      <p:pic>
        <p:nvPicPr>
          <p:cNvPr id="27" name="Picture 2" descr="Virginia Tech Hokies - Wikipedia">
            <a:extLst>
              <a:ext uri="{FF2B5EF4-FFF2-40B4-BE49-F238E27FC236}">
                <a16:creationId xmlns:a16="http://schemas.microsoft.com/office/drawing/2014/main" id="{C12281C7-E1D3-A93A-3018-B5516CE36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35" y="285272"/>
            <a:ext cx="1099929" cy="5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673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CDDDD-B358-2AD7-B562-E0D12401E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6DFF2-F9B0-8F85-5516-981E078E4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61275"/>
            <a:ext cx="3039737" cy="50995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https://</a:t>
            </a:r>
            <a:r>
              <a:rPr lang="en-US" dirty="0" err="1"/>
              <a:t>data.gov</a:t>
            </a:r>
            <a:endParaRPr lang="en-US" dirty="0"/>
          </a:p>
        </p:txBody>
      </p:sp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AE9BE789-276A-3B6C-665E-0781A995A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93" y="1690688"/>
            <a:ext cx="4064000" cy="1104900"/>
          </a:xfrm>
          <a:prstGeom prst="rect">
            <a:avLst/>
          </a:prstGeom>
        </p:spPr>
      </p:pic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F959A313-917F-FCC4-2E29-4A83BA059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570" y="1701485"/>
            <a:ext cx="5746198" cy="10941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017BC3-1925-545C-74BE-127A0BE1CDF3}"/>
              </a:ext>
            </a:extLst>
          </p:cNvPr>
          <p:cNvSpPr txBox="1"/>
          <p:nvPr/>
        </p:nvSpPr>
        <p:spPr>
          <a:xfrm>
            <a:off x="6096000" y="2734517"/>
            <a:ext cx="3825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projects.fivethirtyeight.com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E33B19-0A84-D6F2-B303-E355DC49EE35}"/>
              </a:ext>
            </a:extLst>
          </p:cNvPr>
          <p:cNvSpPr txBox="1"/>
          <p:nvPr/>
        </p:nvSpPr>
        <p:spPr>
          <a:xfrm>
            <a:off x="829019" y="3795408"/>
            <a:ext cx="60978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endParaRPr lang="en-US" b="0" i="0" u="none" strike="noStrike" dirty="0">
              <a:solidFill>
                <a:srgbClr val="242424"/>
              </a:solidFill>
              <a:effectLst/>
              <a:latin typeface="Segoe UI" panose="020B0502040204020203" pitchFamily="34" charset="0"/>
              <a:hlinkClick r:id="rId4" tooltip="Original URL: https://archive.ics.uci.edu/. Click or tap if you trust this link."/>
            </a:endParaRPr>
          </a:p>
          <a:p>
            <a:pPr algn="l" fontAlgn="base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herit"/>
                <a:hlinkClick r:id="rId4" tooltip="Original URL: https://archive.ics.uci.edu/. Click or tap if you trust this link."/>
              </a:rPr>
              <a:t>Home - UCI Machine Learning Repository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inherit"/>
            </a:endParaRPr>
          </a:p>
          <a:p>
            <a:pPr algn="l" fontAlgn="base"/>
            <a:r>
              <a:rPr lang="en-US" dirty="0">
                <a:solidFill>
                  <a:srgbClr val="000000"/>
                </a:solidFill>
                <a:latin typeface="inherit"/>
              </a:rPr>
              <a:t>https://</a:t>
            </a:r>
            <a:r>
              <a:rPr lang="en-US" dirty="0" err="1">
                <a:solidFill>
                  <a:srgbClr val="000000"/>
                </a:solidFill>
                <a:latin typeface="inherit"/>
              </a:rPr>
              <a:t>archive.ics.uci.edu</a:t>
            </a:r>
            <a:endParaRPr lang="en-US" dirty="0">
              <a:solidFill>
                <a:srgbClr val="000000"/>
              </a:solidFill>
              <a:latin typeface="inherit"/>
            </a:endParaRPr>
          </a:p>
        </p:txBody>
      </p:sp>
      <p:pic>
        <p:nvPicPr>
          <p:cNvPr id="13" name="Picture 12" descr="A black and white logo&#10;&#10;Description automatically generated">
            <a:extLst>
              <a:ext uri="{FF2B5EF4-FFF2-40B4-BE49-F238E27FC236}">
                <a16:creationId xmlns:a16="http://schemas.microsoft.com/office/drawing/2014/main" id="{709B8A46-5FC3-3FDE-8FB7-F6E5F7CC23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3069" y="3432655"/>
            <a:ext cx="5746198" cy="17238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ACB9778-81F2-B728-8035-4D7CCC325273}"/>
              </a:ext>
            </a:extLst>
          </p:cNvPr>
          <p:cNvSpPr txBox="1"/>
          <p:nvPr/>
        </p:nvSpPr>
        <p:spPr>
          <a:xfrm>
            <a:off x="5773570" y="4810132"/>
            <a:ext cx="60978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endParaRPr lang="en-US" b="0" i="0" u="none" strike="noStrike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fontAlgn="base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herit"/>
                <a:hlinkClick r:id="rId6" tooltip="Original URL: https://en.wikipedia.org/wiki/List_of_datasets_for_machine-learning_research. Click or tap if you trust this link."/>
              </a:rPr>
              <a:t>List of datasets for machine-learning research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herit"/>
                <a:hlinkClick r:id="rId4" tooltip="Original URL: https://archive.ics.uci.edu/. Click or tap if you trust this link."/>
              </a:rPr>
              <a:t>–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herit"/>
                <a:hlinkClick r:id="rId6" tooltip="Original URL: https://en.wikipedia.org/wiki/List_of_datasets_for_machine-learning_research. Click or tap if you trust this link."/>
              </a:rPr>
              <a:t> Wikipedia</a:t>
            </a:r>
            <a:endParaRPr lang="en-US" b="0" i="0" u="none" strike="noStrike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fontAlgn="base"/>
            <a:r>
              <a:rPr lang="en-US" sz="1800" dirty="0">
                <a:solidFill>
                  <a:srgbClr val="242424"/>
                </a:solidFill>
                <a:latin typeface="Segoe UI" panose="020B0502040204020203" pitchFamily="34" charset="0"/>
                <a:hlinkClick r:id="rId4" tooltip="Original URL: https://archive.ics.uci.edu/. Click or tap if you trust this link."/>
              </a:rPr>
              <a:t>https://en.wikipedia.org/wiki/List_of_datasets_for_machine-learning_research</a:t>
            </a:r>
          </a:p>
        </p:txBody>
      </p:sp>
      <p:pic>
        <p:nvPicPr>
          <p:cNvPr id="16" name="Picture 2" descr="Virginia Tech Hokies - Wikipedia">
            <a:extLst>
              <a:ext uri="{FF2B5EF4-FFF2-40B4-BE49-F238E27FC236}">
                <a16:creationId xmlns:a16="http://schemas.microsoft.com/office/drawing/2014/main" id="{351FE441-DA92-8319-AC6E-F3712C897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35" y="285272"/>
            <a:ext cx="1099929" cy="5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795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B4A54-B7F8-8758-9A85-5C8ACA964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Scraping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E4AE8-53A4-EAEB-64E0-9228AF460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Web scraping refers to the process of extracting data from websites. </a:t>
            </a:r>
          </a:p>
          <a:p>
            <a:pPr marL="0" indent="0" algn="l">
              <a:buNone/>
            </a:pPr>
            <a:endParaRPr lang="en-US" dirty="0">
              <a:solidFill>
                <a:srgbClr val="0D0D0D"/>
              </a:solidFill>
              <a:latin typeface="Söhne"/>
            </a:endParaRP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D0D0D"/>
                </a:solidFill>
                <a:effectLst/>
                <a:latin typeface="Söhne"/>
              </a:rPr>
              <a:t>Using Python Libraries</a:t>
            </a: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 err="1">
                <a:solidFill>
                  <a:srgbClr val="0D0D0D"/>
                </a:solidFill>
                <a:effectLst/>
                <a:latin typeface="Söhne"/>
              </a:rPr>
              <a:t>BeautifulSoup</a:t>
            </a: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: A popular Python library for parsing HTML and XML documents. It provides easy-to-use methods for navigating and extracting data from web pages.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Scrapy: A powerful web crawling and scraping framework for Python. It allows you to define the structure of the website you want to scrape and extract data in a structured format.</a:t>
            </a:r>
          </a:p>
          <a:p>
            <a:endParaRPr lang="en-US" dirty="0"/>
          </a:p>
        </p:txBody>
      </p:sp>
      <p:pic>
        <p:nvPicPr>
          <p:cNvPr id="4" name="Picture 2" descr="Virginia Tech Hokies - Wikipedia">
            <a:extLst>
              <a:ext uri="{FF2B5EF4-FFF2-40B4-BE49-F238E27FC236}">
                <a16:creationId xmlns:a16="http://schemas.microsoft.com/office/drawing/2014/main" id="{09569E1D-938F-BFA7-D546-93984E0BB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35" y="285272"/>
            <a:ext cx="1099929" cy="5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054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EFA45-46F0-3B5C-D3FD-71BE54F39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Leveraging Existing Data for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ED4AA-4EF9-64A4-5B2B-3A2F05427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 difficult to acquire.</a:t>
            </a:r>
          </a:p>
          <a:p>
            <a:r>
              <a:rPr lang="en-US" dirty="0"/>
              <a:t>If you have access, you can use it for </a:t>
            </a:r>
            <a:r>
              <a:rPr lang="en-US" b="0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unlocking hidden opportunities and driving informed decision-making.</a:t>
            </a:r>
            <a:endParaRPr lang="en-US" dirty="0"/>
          </a:p>
        </p:txBody>
      </p:sp>
      <p:pic>
        <p:nvPicPr>
          <p:cNvPr id="4" name="Picture 2" descr="Virginia Tech Hokies - Wikipedia">
            <a:extLst>
              <a:ext uri="{FF2B5EF4-FFF2-40B4-BE49-F238E27FC236}">
                <a16:creationId xmlns:a16="http://schemas.microsoft.com/office/drawing/2014/main" id="{FB0E391E-E1BD-EB79-076C-26791A423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35" y="285272"/>
            <a:ext cx="1099929" cy="5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0184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9AC79-CAF7-FC54-63B5-7C5E28BD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Collaboration / Teams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30A3B-3402-5341-2803-1CA6579AB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Collaboration enhances creativity, problem-solving, and overall project outcomes.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In machine learning, diverse perspectives lead to more robust models and solutions.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Effective collaboration fosters a positive team environment, boosting morale and productivity.</a:t>
            </a:r>
          </a:p>
          <a:p>
            <a:endParaRPr lang="en-US" dirty="0"/>
          </a:p>
        </p:txBody>
      </p:sp>
      <p:pic>
        <p:nvPicPr>
          <p:cNvPr id="4" name="Picture 2" descr="Virginia Tech Hokies - Wikipedia">
            <a:extLst>
              <a:ext uri="{FF2B5EF4-FFF2-40B4-BE49-F238E27FC236}">
                <a16:creationId xmlns:a16="http://schemas.microsoft.com/office/drawing/2014/main" id="{10909188-87F2-57C7-1038-4222FB6C3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35" y="285272"/>
            <a:ext cx="1099929" cy="5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3283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F17AE-479E-BA4D-94CE-2CCCCCEFD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Clear Communication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08211-2CE5-25F1-D100-29E0F5E84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Communication is key to successful collaboration.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Establish regular meetings to discuss progress, challenges, and goals.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Utilize communication tools such as Slack, Microsoft Teams, or Discord for real-time discussions.</a:t>
            </a:r>
          </a:p>
          <a:p>
            <a:endParaRPr lang="en-US" dirty="0"/>
          </a:p>
        </p:txBody>
      </p:sp>
      <p:pic>
        <p:nvPicPr>
          <p:cNvPr id="4" name="Picture 2" descr="Virginia Tech Hokies - Wikipedia">
            <a:extLst>
              <a:ext uri="{FF2B5EF4-FFF2-40B4-BE49-F238E27FC236}">
                <a16:creationId xmlns:a16="http://schemas.microsoft.com/office/drawing/2014/main" id="{A715C326-B19D-FCE0-E055-5D461BB7D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35" y="285272"/>
            <a:ext cx="1099929" cy="5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8015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B09E8-5BE3-F59A-A139-A547FB98D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Define Roles and Responsibilities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8D05C-1BF4-6E60-38C3-F694CF6F7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Clearly define roles and responsibilities within the team.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Assign tasks based on individual strengths and expertise.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Regularly reassess and adjust roles as needed to ensure efficiency.</a:t>
            </a:r>
          </a:p>
          <a:p>
            <a:endParaRPr lang="en-US" dirty="0"/>
          </a:p>
        </p:txBody>
      </p:sp>
      <p:pic>
        <p:nvPicPr>
          <p:cNvPr id="4" name="Picture 2" descr="Virginia Tech Hokies - Wikipedia">
            <a:extLst>
              <a:ext uri="{FF2B5EF4-FFF2-40B4-BE49-F238E27FC236}">
                <a16:creationId xmlns:a16="http://schemas.microsoft.com/office/drawing/2014/main" id="{2F25FA06-4DC5-5231-E8E1-258B2EC52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35" y="285272"/>
            <a:ext cx="1099929" cy="5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769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C5EB0-2E2A-25A3-DFDB-11956FD61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Establishing Goals and Milestones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AA9CB-E9EB-FF6D-EBAA-FB93AC160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Set clear, achievable goals and milestones for the project.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Break down the project into smaller tasks with specific deadlines.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Regularly track progress towards goals and celebrate milestones reached.</a:t>
            </a:r>
          </a:p>
          <a:p>
            <a:endParaRPr lang="en-US" dirty="0"/>
          </a:p>
        </p:txBody>
      </p:sp>
      <p:pic>
        <p:nvPicPr>
          <p:cNvPr id="4" name="Picture 2" descr="Virginia Tech Hokies - Wikipedia">
            <a:extLst>
              <a:ext uri="{FF2B5EF4-FFF2-40B4-BE49-F238E27FC236}">
                <a16:creationId xmlns:a16="http://schemas.microsoft.com/office/drawing/2014/main" id="{659FBFFB-C944-393D-DB48-6FB45A23E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35" y="285272"/>
            <a:ext cx="1099929" cy="5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980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8CD48-6861-520D-5DBB-0E02C0F4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Foster a Collaborative Environment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F0D87-5DB0-218F-FA0F-F40AB57A2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Encourage open communication and constructive feedback.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Create a safe space for sharing ideas and asking questions.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Value each team member's contributions and perspectives.</a:t>
            </a:r>
          </a:p>
          <a:p>
            <a:endParaRPr lang="en-US" dirty="0"/>
          </a:p>
        </p:txBody>
      </p:sp>
      <p:pic>
        <p:nvPicPr>
          <p:cNvPr id="4" name="Picture 2" descr="Virginia Tech Hokies - Wikipedia">
            <a:extLst>
              <a:ext uri="{FF2B5EF4-FFF2-40B4-BE49-F238E27FC236}">
                <a16:creationId xmlns:a16="http://schemas.microsoft.com/office/drawing/2014/main" id="{2E2657B2-CA39-3F85-9499-FA91FA26E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35" y="285272"/>
            <a:ext cx="1099929" cy="5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4095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BDDBB-3500-FF31-C97E-A388A0E9A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Peer Review and Code Reviews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7CDF1-CB6B-0120-C29D-D1029C22C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D0D0D"/>
                </a:solidFill>
                <a:effectLst/>
                <a:latin typeface="Söhne"/>
              </a:rPr>
              <a:t>mplement</a:t>
            </a: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 peer review and code review processes.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Review each other's code for errors, efficiency, and adherence to best practices.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Provide constructive feedback to help improve the quality of code and models.</a:t>
            </a:r>
          </a:p>
          <a:p>
            <a:endParaRPr lang="en-US" dirty="0"/>
          </a:p>
        </p:txBody>
      </p:sp>
      <p:pic>
        <p:nvPicPr>
          <p:cNvPr id="4" name="Picture 2" descr="Virginia Tech Hokies - Wikipedia">
            <a:extLst>
              <a:ext uri="{FF2B5EF4-FFF2-40B4-BE49-F238E27FC236}">
                <a16:creationId xmlns:a16="http://schemas.microsoft.com/office/drawing/2014/main" id="{9F4264D1-3639-177F-7E24-534BAE607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35" y="285272"/>
            <a:ext cx="1099929" cy="5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130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0A444-9A80-F149-FDA9-903969959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Handling Conflicts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ED995-F955-DE65-AF25-2867A17BB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Address conflicts or disagreements promptly and respectfully.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Encourage open dialogue to understand different perspectives.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Focus on finding solutions and compromises that benefit the project and team.</a:t>
            </a:r>
          </a:p>
          <a:p>
            <a:endParaRPr lang="en-US" dirty="0"/>
          </a:p>
        </p:txBody>
      </p:sp>
      <p:pic>
        <p:nvPicPr>
          <p:cNvPr id="4" name="Picture 2" descr="Virginia Tech Hokies - Wikipedia">
            <a:extLst>
              <a:ext uri="{FF2B5EF4-FFF2-40B4-BE49-F238E27FC236}">
                <a16:creationId xmlns:a16="http://schemas.microsoft.com/office/drawing/2014/main" id="{6F17FE6E-B062-5D7B-B7B5-95E455907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35" y="285272"/>
            <a:ext cx="1099929" cy="5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9194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32D3F-6225-9FD4-86A6-6047844BE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F49EA-B293-D74A-E02A-07FE6C3D0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Effective collaboration is essential for success in dat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a science and machine learning projects</a:t>
            </a:r>
            <a:endParaRPr lang="en-US" b="0" i="0" u="none" strike="noStrike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By following these strategies and best practices, you can maximize collaboration within your project teams.</a:t>
            </a:r>
          </a:p>
        </p:txBody>
      </p:sp>
      <p:pic>
        <p:nvPicPr>
          <p:cNvPr id="4" name="Picture 2" descr="Virginia Tech Hokies - Wikipedia">
            <a:extLst>
              <a:ext uri="{FF2B5EF4-FFF2-40B4-BE49-F238E27FC236}">
                <a16:creationId xmlns:a16="http://schemas.microsoft.com/office/drawing/2014/main" id="{02155E00-5660-5D6B-8F6F-C6F44BE1E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35" y="285272"/>
            <a:ext cx="1099929" cy="5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7220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mong Us reaches 1.5 million concurrent players">
            <a:extLst>
              <a:ext uri="{FF2B5EF4-FFF2-40B4-BE49-F238E27FC236}">
                <a16:creationId xmlns:a16="http://schemas.microsoft.com/office/drawing/2014/main" id="{CD099505-BA24-36A6-04BB-DA3CDE1AF7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3" name="Rectangle 4102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37DA6-4378-8FC4-7F5C-CC95CBC6E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Let's build the teams</a:t>
            </a:r>
          </a:p>
        </p:txBody>
      </p:sp>
      <p:cxnSp>
        <p:nvCxnSpPr>
          <p:cNvPr id="4105" name="Straight Connector 4104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7" name="Straight Connector 4106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744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574</Words>
  <Application>Microsoft Office PowerPoint</Application>
  <PresentationFormat>Widescreen</PresentationFormat>
  <Paragraphs>72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Aleo</vt:lpstr>
      <vt:lpstr>Aptos</vt:lpstr>
      <vt:lpstr>Aptos Display</vt:lpstr>
      <vt:lpstr>Arial</vt:lpstr>
      <vt:lpstr>ArialMT</vt:lpstr>
      <vt:lpstr>Calibri</vt:lpstr>
      <vt:lpstr>inherit</vt:lpstr>
      <vt:lpstr>Segoe UI</vt:lpstr>
      <vt:lpstr>Söhne</vt:lpstr>
      <vt:lpstr>Office Theme</vt:lpstr>
      <vt:lpstr>CS/CDMA/STAT 3654  Projects  Spring 2024</vt:lpstr>
      <vt:lpstr>Have a balanced team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Which is most challenging</vt:lpstr>
      <vt:lpstr>What is the difference between studying and learning?</vt:lpstr>
      <vt:lpstr>PowerPoint Presentation</vt:lpstr>
      <vt:lpstr>Datasets</vt:lpstr>
      <vt:lpstr>Datasets</vt:lpstr>
      <vt:lpstr>Web Scraping</vt:lpstr>
      <vt:lpstr>Leveraging Existing Data for Insights</vt:lpstr>
      <vt:lpstr>Project Collaboration / Teams</vt:lpstr>
      <vt:lpstr>Clear Communication</vt:lpstr>
      <vt:lpstr>Define Roles and Responsibilities</vt:lpstr>
      <vt:lpstr>Establishing Goals and Milestones</vt:lpstr>
      <vt:lpstr>Foster a Collaborative Environment</vt:lpstr>
      <vt:lpstr>Peer Review and Code Reviews</vt:lpstr>
      <vt:lpstr>Handling Conflicts</vt:lpstr>
      <vt:lpstr>Conclusion</vt:lpstr>
      <vt:lpstr>Let's build the teams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4604  Database Projects  Spring 2024</dc:title>
  <dc:creator>Nizamani, Sehrish Basir</dc:creator>
  <cp:lastModifiedBy>Bruno Terceros, Jason</cp:lastModifiedBy>
  <cp:revision>3</cp:revision>
  <dcterms:created xsi:type="dcterms:W3CDTF">2024-03-14T15:44:35Z</dcterms:created>
  <dcterms:modified xsi:type="dcterms:W3CDTF">2024-03-14T21:50:18Z</dcterms:modified>
</cp:coreProperties>
</file>